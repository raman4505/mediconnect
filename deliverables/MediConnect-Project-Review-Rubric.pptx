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ae819696364891" /><Relationship Type="http://schemas.openxmlformats.org/officeDocument/2006/relationships/extended-properties" Target="/docProps/app.xml" Id="R68a888b6d04241b0" /><Relationship Type="http://schemas.openxmlformats.org/officeDocument/2006/relationships/officeDocument" Target="/ppt/presentation.xml" Id="R15a1abbe947946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7dafabf36a4651"/>
  </p:sldMasterIdLst>
  <p:notesMasterIdLst>
    <p:notesMasterId xmlns:r="http://schemas.openxmlformats.org/officeDocument/2006/relationships" r:id="R287cbad02e4d4ea4"/>
  </p:notesMasterIdLst>
  <p:sldIdLst>
    <p:sldId xmlns:r="http://schemas.openxmlformats.org/officeDocument/2006/relationships" id="256" r:id="R6d75797f451d4091"/>
    <p:sldId xmlns:r="http://schemas.openxmlformats.org/officeDocument/2006/relationships" id="257" r:id="Rdc465332fc2144a8"/>
    <p:sldId xmlns:r="http://schemas.openxmlformats.org/officeDocument/2006/relationships" id="258" r:id="Re6494681903a4ff7"/>
    <p:sldId xmlns:r="http://schemas.openxmlformats.org/officeDocument/2006/relationships" id="259" r:id="R2173a8f669b741ca"/>
    <p:sldId xmlns:r="http://schemas.openxmlformats.org/officeDocument/2006/relationships" id="260" r:id="R7bee43d539034981"/>
    <p:sldId xmlns:r="http://schemas.openxmlformats.org/officeDocument/2006/relationships" id="261" r:id="R3d942b3cb2524c47"/>
    <p:sldId xmlns:r="http://schemas.openxmlformats.org/officeDocument/2006/relationships" id="262" r:id="Rda94b65c96194475"/>
    <p:sldId xmlns:r="http://schemas.openxmlformats.org/officeDocument/2006/relationships" id="263" r:id="Rcb324c84d53245e2"/>
    <p:sldId xmlns:r="http://schemas.openxmlformats.org/officeDocument/2006/relationships" id="264" r:id="R063bbf39a8d14685"/>
    <p:sldId xmlns:r="http://schemas.openxmlformats.org/officeDocument/2006/relationships" id="265" r:id="Ra60ee60911e849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c68aff9b4343bf" /><Relationship Type="http://schemas.openxmlformats.org/officeDocument/2006/relationships/slideMaster" Target="/ppt/slideMasters/slideMaster1.xml" Id="R957dafabf36a4651" /><Relationship Type="http://schemas.openxmlformats.org/officeDocument/2006/relationships/notesMaster" Target="/ppt/notesMasters/notesMaster1.xml" Id="R287cbad02e4d4ea4" /><Relationship Type="http://schemas.openxmlformats.org/officeDocument/2006/relationships/presProps" Target="/ppt/presProps.xml" Id="R9bd86ff9bdb5467f" /><Relationship Type="http://schemas.openxmlformats.org/officeDocument/2006/relationships/tableStyles" Target="/ppt/tableStyles.xml" Id="R467bfbec3a9447af" /><Relationship Type="http://schemas.openxmlformats.org/officeDocument/2006/relationships/slide" Target="/ppt/slides/slide1.xml" Id="R6d75797f451d4091" /><Relationship Type="http://schemas.openxmlformats.org/officeDocument/2006/relationships/slide" Target="/ppt/slides/slide2.xml" Id="Rdc465332fc2144a8" /><Relationship Type="http://schemas.openxmlformats.org/officeDocument/2006/relationships/slide" Target="/ppt/slides/slide3.xml" Id="Re6494681903a4ff7" /><Relationship Type="http://schemas.openxmlformats.org/officeDocument/2006/relationships/slide" Target="/ppt/slides/slide4.xml" Id="R2173a8f669b741ca" /><Relationship Type="http://schemas.openxmlformats.org/officeDocument/2006/relationships/slide" Target="/ppt/slides/slide5.xml" Id="R7bee43d539034981" /><Relationship Type="http://schemas.openxmlformats.org/officeDocument/2006/relationships/slide" Target="/ppt/slides/slide6.xml" Id="R3d942b3cb2524c47" /><Relationship Type="http://schemas.openxmlformats.org/officeDocument/2006/relationships/slide" Target="/ppt/slides/slide7.xml" Id="Rda94b65c96194475" /><Relationship Type="http://schemas.openxmlformats.org/officeDocument/2006/relationships/slide" Target="/ppt/slides/slide8.xml" Id="Rcb324c84d53245e2" /><Relationship Type="http://schemas.openxmlformats.org/officeDocument/2006/relationships/slide" Target="/ppt/slides/slide9.xml" Id="R063bbf39a8d14685" /><Relationship Type="http://schemas.openxmlformats.org/officeDocument/2006/relationships/slide" Target="/ppt/slides/slide10.xml" Id="Ra60ee60911e849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6d5f68a9c446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75e0c822814485" /><Relationship Type="http://schemas.openxmlformats.org/officeDocument/2006/relationships/notesMaster" Target="/ppt/notesMasters/notesMaster1.xml" Id="R9b1c19fe2e584d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3200d157324d6f" /><Relationship Type="http://schemas.openxmlformats.org/officeDocument/2006/relationships/notesMaster" Target="/ppt/notesMasters/notesMaster1.xml" Id="Rfdeb9635f1e4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91aa9fd5444892" /><Relationship Type="http://schemas.openxmlformats.org/officeDocument/2006/relationships/notesMaster" Target="/ppt/notesMasters/notesMaster1.xml" Id="R97343324635b4e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818091238417b" /><Relationship Type="http://schemas.openxmlformats.org/officeDocument/2006/relationships/notesMaster" Target="/ppt/notesMasters/notesMaster1.xml" Id="R5fd6aca75f2c42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5751e5cdb641f9" /><Relationship Type="http://schemas.openxmlformats.org/officeDocument/2006/relationships/notesMaster" Target="/ppt/notesMasters/notesMaster1.xml" Id="R94057cc2659d4e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51847fc33c45d3" /><Relationship Type="http://schemas.openxmlformats.org/officeDocument/2006/relationships/notesMaster" Target="/ppt/notesMasters/notesMaster1.xml" Id="Ra65f2997a8434f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e016470dcf4a42" /><Relationship Type="http://schemas.openxmlformats.org/officeDocument/2006/relationships/notesMaster" Target="/ppt/notesMasters/notesMaster1.xml" Id="Rc134849c864c47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ed3fe314b0494c" /><Relationship Type="http://schemas.openxmlformats.org/officeDocument/2006/relationships/notesMaster" Target="/ppt/notesMasters/notesMaster1.xml" Id="R4354bf57d8c247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f57963f1d149a6" /><Relationship Type="http://schemas.openxmlformats.org/officeDocument/2006/relationships/notesMaster" Target="/ppt/notesMasters/notesMaster1.xml" Id="R8ce633bb21cd40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6e25b8d3774884" /><Relationship Type="http://schemas.openxmlformats.org/officeDocument/2006/relationships/notesMaster" Target="/ppt/notesMasters/notesMaster1.xml" Id="R52b3df17251445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a5dda4d2d47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5662303ec4a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117e2f28e48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463722fe949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42279375948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938a4da124f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B149F5-F37F-4907-9026-F77808D99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B57E29-8E5D-4885-9ED4-7986DA363C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8ED76E-69BA-42AF-A5F9-C5699C26A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6A2402-AFC9-41C2-8E1F-B7C2573D0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6F5730-8AF3-4FD6-8311-F5CECB3913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48D4CF-4E79-4C3B-A4F4-843BF5531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D89B5F-2E26-4574-8865-43E6611F72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48BFBF-ABC3-4D18-9384-8FDB7A2B85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A4C52E-D139-48CF-9BAF-3440946FC7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3B2B94-1200-43D5-ACFF-6CC473CA5C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7a681a81949bb" /><Relationship Type="http://schemas.openxmlformats.org/officeDocument/2006/relationships/slideLayout" Target="/ppt/slideLayouts/slideLayout1.xml" Id="R7965a79adb3d4780" /><Relationship Type="http://schemas.openxmlformats.org/officeDocument/2006/relationships/slideLayout" Target="/ppt/slideLayouts/slideLayout2.xml" Id="R77658272b1f84772" /><Relationship Type="http://schemas.openxmlformats.org/officeDocument/2006/relationships/slideLayout" Target="/ppt/slideLayouts/slideLayout3.xml" Id="Rf89b9d394d5147ba" /><Relationship Type="http://schemas.openxmlformats.org/officeDocument/2006/relationships/slideLayout" Target="/ppt/slideLayouts/slideLayout4.xml" Id="R8c7c573462714e85" /><Relationship Type="http://schemas.openxmlformats.org/officeDocument/2006/relationships/slideLayout" Target="/ppt/slideLayouts/slideLayout5.xml" Id="Rd59d2f04810d48ee" /><Relationship Type="http://schemas.openxmlformats.org/officeDocument/2006/relationships/slideLayout" Target="/ppt/slideLayouts/slideLayout6.xml" Id="Ra24b4251c1bc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65a79adb3d4780"/>
    <p:sldLayoutId xmlns:r="http://schemas.openxmlformats.org/officeDocument/2006/relationships" id="2147483650" r:id="R77658272b1f84772"/>
    <p:sldLayoutId xmlns:r="http://schemas.openxmlformats.org/officeDocument/2006/relationships" id="2147483651" r:id="Rf89b9d394d5147ba"/>
    <p:sldLayoutId xmlns:r="http://schemas.openxmlformats.org/officeDocument/2006/relationships" id="2147483652" r:id="R8c7c573462714e85"/>
    <p:sldLayoutId xmlns:r="http://schemas.openxmlformats.org/officeDocument/2006/relationships" id="2147483653" r:id="Rd59d2f04810d48ee"/>
    <p:sldLayoutId xmlns:r="http://schemas.openxmlformats.org/officeDocument/2006/relationships" id="2147483654" r:id="Ra24b4251c1bc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6391a8fb34426" /><Relationship Type="http://schemas.openxmlformats.org/officeDocument/2006/relationships/notesSlide" Target="/ppt/notesSlides/notesSlide1.xml" Id="R3d130b8d335046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8c382862d4eaa" /><Relationship Type="http://schemas.openxmlformats.org/officeDocument/2006/relationships/notesSlide" Target="/ppt/notesSlides/notesSlide2.xml" Id="R6ab0d85fba4544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bba308d264c1a" /><Relationship Type="http://schemas.openxmlformats.org/officeDocument/2006/relationships/notesSlide" Target="/ppt/notesSlides/notesSlide3.xml" Id="R64b84d73b45d4a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714c52bf94ab7" /><Relationship Type="http://schemas.openxmlformats.org/officeDocument/2006/relationships/notesSlide" Target="/ppt/notesSlides/notesSlide4.xml" Id="R2de41e54c6e44f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1516abab74f00" /><Relationship Type="http://schemas.openxmlformats.org/officeDocument/2006/relationships/notesSlide" Target="/ppt/notesSlides/notesSlide5.xml" Id="R4bc17c0c13174a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a7358d2ce4057" /><Relationship Type="http://schemas.openxmlformats.org/officeDocument/2006/relationships/notesSlide" Target="/ppt/notesSlides/notesSlide6.xml" Id="Rc1d0b80ec700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6d74c8d984477" /><Relationship Type="http://schemas.openxmlformats.org/officeDocument/2006/relationships/notesSlide" Target="/ppt/notesSlides/notesSlide7.xml" Id="Rc335a1761a7045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8138d16c042a6" /><Relationship Type="http://schemas.openxmlformats.org/officeDocument/2006/relationships/notesSlide" Target="/ppt/notesSlides/notesSlide8.xml" Id="Rc4da223331464e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fb3d532454864" /><Relationship Type="http://schemas.openxmlformats.org/officeDocument/2006/relationships/notesSlide" Target="/ppt/notesSlides/notesSlide9.xml" Id="R8095ff4cf9214a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022e55e7d4457" /><Relationship Type="http://schemas.openxmlformats.org/officeDocument/2006/relationships/notesSlide" Target="/ppt/notesSlides/notesSlide10.xml" Id="Re520c647dfd840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7D22728-1C97-4F0D-99AE-7460B72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rule">
            <a:extLst xmlns:a="http://schemas.openxmlformats.org/drawingml/2006/main">
              <a:ext uri="{FF2B5EF4-FFF2-40B4-BE49-F238E27FC236}">
                <a16:creationId xmlns:a16="http://schemas.microsoft.com/office/drawing/2014/main" id="{BA1AA303-53A4-4202-A83E-F90D36C4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895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A0A538B-59B5-47FE-9B1F-E6683D3F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00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570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MediConnect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9701572-7272-4CC8-AF4B-07B83C16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0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4F0D2"/>
                </a:solidFill>
                <a:latin typeface="Arial"/>
                <a:ea typeface="Arial"/>
                <a:cs typeface="Arial"/>
              </a:rPr>
              <a:t>Online health consultation platform</a:t>
            </a:r>
          </a:p>
        </p:txBody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5C134F48-C023-481D-B9A7-CCE6CA4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A Java web application for appointment and care workflows</a:t>
            </a:r>
          </a:p>
        </p:txBody>
      </p:sp>
      <p:sp>
        <p:nvSpPr>
          <p:cNvPr id="6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84BE9B91-FA8E-49BA-B2E6-74391A7D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9A9855E-DF04-47EA-B141-EFE28507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PROJECT REVIEW  •  JAVA 17  •  SPRING BOOT</a:t>
            </a:r>
          </a:p>
        </p:txBody>
      </p:sp>
    </p:spTree>
    <p:extLst>
      <p:ext uri="{BB962C8B-B14F-4D97-AF65-F5344CB8AC3E}">
        <p14:creationId xmlns:p14="http://schemas.microsoft.com/office/powerpoint/2010/main" val="1745418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276BB4E-8ACB-48A4-AC89-A2D69F90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B3B18D-5569-41A4-A678-2489849B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DB645E-A8BA-4A9E-89FC-F615C0B4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One browser app supports the core visit cycle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55341C7-24B3-41B7-96CB-F45999AB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D0A7279-D000-4D19-96CA-5F41C14D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18B89E-2277-46EE-ADC9-0E9ADA7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74FEBF8D-4727-455D-8373-82B48A98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Patients need a clear way to request consultations and keep personal records. Professionals need to review assigned visits and document follow-up.</a:t>
            </a:r>
          </a:p>
        </p:txBody>
      </p:sp>
      <p:sp>
        <p:nvSpPr>
          <p:cNvPr id="8" name="solution-rule">
            <a:extLst xmlns:a="http://schemas.openxmlformats.org/drawingml/2006/main">
              <a:ext uri="{FF2B5EF4-FFF2-40B4-BE49-F238E27FC236}">
                <a16:creationId xmlns:a16="http://schemas.microsoft.com/office/drawing/2014/main" id="{C5B6A5B0-96A4-4091-A6DB-D94E714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lution">
            <a:extLst xmlns:a="http://schemas.openxmlformats.org/drawingml/2006/main">
              <a:ext uri="{FF2B5EF4-FFF2-40B4-BE49-F238E27FC236}">
                <a16:creationId xmlns:a16="http://schemas.microsoft.com/office/drawing/2014/main" id="{726F5F65-1E89-43DA-9BA0-0687B395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676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F0D2"/>
                </a:solidFill>
                <a:latin typeface="Arial"/>
                <a:ea typeface="Arial"/>
                <a:cs typeface="Arial"/>
              </a:rPr>
              <a:t>MediConnect brings booking, consultation, records, and communication into a role-aware Java website.</a:t>
            </a:r>
          </a:p>
        </p:txBody>
      </p:sp>
      <p:sp>
        <p:nvSpPr>
          <p:cNvPr id="10" name="mode-label">
            <a:extLst xmlns:a="http://schemas.openxmlformats.org/drawingml/2006/main">
              <a:ext uri="{FF2B5EF4-FFF2-40B4-BE49-F238E27FC236}">
                <a16:creationId xmlns:a16="http://schemas.microsoft.com/office/drawing/2014/main" id="{DF952282-EF8B-42D1-B2EB-3EC19C75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DEMO MODES</a:t>
            </a:r>
          </a:p>
        </p:txBody>
      </p:sp>
      <p:sp>
        <p:nvSpPr>
          <p:cNvPr id="11" name="modes">
            <a:extLst xmlns:a="http://schemas.openxmlformats.org/drawingml/2006/main">
              <a:ext uri="{FF2B5EF4-FFF2-40B4-BE49-F238E27FC236}">
                <a16:creationId xmlns:a16="http://schemas.microsoft.com/office/drawing/2014/main" id="{BDDCB863-8C11-4B51-A9AC-76589CE8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71462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In-memory demo</a:t>
            </a:r>
          </a:p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Quick local walkthrough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MySQL persistence</a:t>
            </a:r>
          </a:p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Explicitly configured JDBC mode</a:t>
            </a:r>
          </a:p>
        </p:txBody>
      </p:sp>
    </p:spTree>
    <p:extLst>
      <p:ext uri="{BB962C8B-B14F-4D97-AF65-F5344CB8AC3E}">
        <p14:creationId xmlns:p14="http://schemas.microsoft.com/office/powerpoint/2010/main" val="314328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3F9053A-F7CE-4320-BF6F-D5187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AB4D6D-3A92-4D5A-93DA-7626378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Roles and access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4D402B-DE2F-438C-B2DE-1B51DC18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Each role sees the workflows tied to its account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EE8EA46-4EAA-47D9-9688-E6E73EC2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9826D16-6944-4E32-80E0-6CAD647C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940869-FDBD-4A09-8B7F-13BBB2FA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ole-0-heading">
            <a:extLst xmlns:a="http://schemas.openxmlformats.org/drawingml/2006/main">
              <a:ext uri="{FF2B5EF4-FFF2-40B4-BE49-F238E27FC236}">
                <a16:creationId xmlns:a16="http://schemas.microsoft.com/office/drawing/2014/main" id="{AC977294-6F93-4CF4-9D63-FE764BCA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PATIENT</a:t>
            </a:r>
          </a:p>
        </p:txBody>
      </p:sp>
      <p:sp>
        <p:nvSpPr>
          <p:cNvPr id="8" name="role-0-line">
            <a:extLst xmlns:a="http://schemas.openxmlformats.org/drawingml/2006/main">
              <a:ext uri="{FF2B5EF4-FFF2-40B4-BE49-F238E27FC236}">
                <a16:creationId xmlns:a16="http://schemas.microsoft.com/office/drawing/2014/main" id="{12D0A12F-E655-4A07-81A2-43A45AC4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0-one">
            <a:extLst xmlns:a="http://schemas.openxmlformats.org/drawingml/2006/main">
              <a:ext uri="{FF2B5EF4-FFF2-40B4-BE49-F238E27FC236}">
                <a16:creationId xmlns:a16="http://schemas.microsoft.com/office/drawing/2014/main" id="{0B3732B6-4D70-4554-A1CD-0A62C3B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Register and manage own appointments</a:t>
            </a:r>
          </a:p>
        </p:txBody>
      </p:sp>
      <p:sp>
        <p:nvSpPr>
          <p:cNvPr id="10" name="role-0-two">
            <a:extLst xmlns:a="http://schemas.openxmlformats.org/drawingml/2006/main">
              <a:ext uri="{FF2B5EF4-FFF2-40B4-BE49-F238E27FC236}">
                <a16:creationId xmlns:a16="http://schemas.microsoft.com/office/drawing/2014/main" id="{02FA24F8-99CB-46A9-BD9F-DD7AC2CD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Edit personal health record</a:t>
            </a:r>
          </a:p>
        </p:txBody>
      </p:sp>
      <p:sp>
        <p:nvSpPr>
          <p:cNvPr id="11" name="role-0-three">
            <a:extLst xmlns:a="http://schemas.openxmlformats.org/drawingml/2006/main">
              <a:ext uri="{FF2B5EF4-FFF2-40B4-BE49-F238E27FC236}">
                <a16:creationId xmlns:a16="http://schemas.microsoft.com/office/drawing/2014/main" id="{F673AA3B-CE12-4B38-8BF3-33A2E59E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Message assigned professional</a:t>
            </a:r>
          </a:p>
        </p:txBody>
      </p:sp>
      <p:sp>
        <p:nvSpPr>
          <p:cNvPr id="12" name="role-1-heading">
            <a:extLst xmlns:a="http://schemas.openxmlformats.org/drawingml/2006/main">
              <a:ext uri="{FF2B5EF4-FFF2-40B4-BE49-F238E27FC236}">
                <a16:creationId xmlns:a16="http://schemas.microsoft.com/office/drawing/2014/main" id="{6A50C938-A9A2-4C32-A417-CAFD9E4A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76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PROFESSIONAL</a:t>
            </a:r>
          </a:p>
        </p:txBody>
      </p:sp>
      <p:sp>
        <p:nvSpPr>
          <p:cNvPr id="13" name="role-1-line">
            <a:extLst xmlns:a="http://schemas.openxmlformats.org/drawingml/2006/main">
              <a:ext uri="{FF2B5EF4-FFF2-40B4-BE49-F238E27FC236}">
                <a16:creationId xmlns:a16="http://schemas.microsoft.com/office/drawing/2014/main" id="{79784E70-B8A9-42BD-A00D-80515D27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050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1-one">
            <a:extLst xmlns:a="http://schemas.openxmlformats.org/drawingml/2006/main">
              <a:ext uri="{FF2B5EF4-FFF2-40B4-BE49-F238E27FC236}">
                <a16:creationId xmlns:a16="http://schemas.microsoft.com/office/drawing/2014/main" id="{F5563DA8-D8A7-4918-AFD2-F6DCFD7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03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Publish weekly availability</a:t>
            </a:r>
          </a:p>
        </p:txBody>
      </p:sp>
      <p:sp>
        <p:nvSpPr>
          <p:cNvPr id="15" name="role-1-two">
            <a:extLst xmlns:a="http://schemas.openxmlformats.org/drawingml/2006/main">
              <a:ext uri="{FF2B5EF4-FFF2-40B4-BE49-F238E27FC236}">
                <a16:creationId xmlns:a16="http://schemas.microsoft.com/office/drawing/2014/main" id="{789DEB66-5E1A-42BB-A295-34C1CAB2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100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Review assigned visits</a:t>
            </a:r>
          </a:p>
        </p:txBody>
      </p:sp>
      <p:sp>
        <p:nvSpPr>
          <p:cNvPr id="16" name="role-1-three">
            <a:extLst xmlns:a="http://schemas.openxmlformats.org/drawingml/2006/main">
              <a:ext uri="{FF2B5EF4-FFF2-40B4-BE49-F238E27FC236}">
                <a16:creationId xmlns:a16="http://schemas.microsoft.com/office/drawing/2014/main" id="{0CDDBA58-D899-4525-A226-F31C543E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196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Record consultation notes</a:t>
            </a:r>
          </a:p>
        </p:txBody>
      </p:sp>
      <p:sp>
        <p:nvSpPr>
          <p:cNvPr id="17" name="role-2-heading">
            <a:extLst xmlns:a="http://schemas.openxmlformats.org/drawingml/2006/main">
              <a:ext uri="{FF2B5EF4-FFF2-40B4-BE49-F238E27FC236}">
                <a16:creationId xmlns:a16="http://schemas.microsoft.com/office/drawing/2014/main" id="{82AAB49D-D090-427B-8C23-408FF5BA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8" name="role-2-line">
            <a:extLst xmlns:a="http://schemas.openxmlformats.org/drawingml/2006/main">
              <a:ext uri="{FF2B5EF4-FFF2-40B4-BE49-F238E27FC236}">
                <a16:creationId xmlns:a16="http://schemas.microsoft.com/office/drawing/2014/main" id="{3093279F-0E24-4998-A039-C40AE868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le-2-one">
            <a:extLst xmlns:a="http://schemas.openxmlformats.org/drawingml/2006/main">
              <a:ext uri="{FF2B5EF4-FFF2-40B4-BE49-F238E27FC236}">
                <a16:creationId xmlns:a16="http://schemas.microsoft.com/office/drawing/2014/main" id="{2727B54D-5FB1-455F-BBAB-4BE28A45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Create and manage accounts</a:t>
            </a:r>
          </a:p>
        </p:txBody>
      </p:sp>
      <p:sp>
        <p:nvSpPr>
          <p:cNvPr id="20" name="role-2-two">
            <a:extLst xmlns:a="http://schemas.openxmlformats.org/drawingml/2006/main">
              <a:ext uri="{FF2B5EF4-FFF2-40B4-BE49-F238E27FC236}">
                <a16:creationId xmlns:a16="http://schemas.microsoft.com/office/drawing/2014/main" id="{DB3F2040-2369-4049-81E0-4CE4897E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000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Manage appointment status</a:t>
            </a:r>
          </a:p>
        </p:txBody>
      </p:sp>
      <p:sp>
        <p:nvSpPr>
          <p:cNvPr id="21" name="role-2-three">
            <a:extLst xmlns:a="http://schemas.openxmlformats.org/drawingml/2006/main">
              <a:ext uri="{FF2B5EF4-FFF2-40B4-BE49-F238E27FC236}">
                <a16:creationId xmlns:a16="http://schemas.microsoft.com/office/drawing/2014/main" id="{CCD324F7-6057-4EC6-95E2-A2FD2F10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96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Review analytics and settings</a:t>
            </a:r>
          </a:p>
        </p:txBody>
      </p:sp>
    </p:spTree>
    <p:extLst>
      <p:ext uri="{BB962C8B-B14F-4D97-AF65-F5344CB8AC3E}">
        <p14:creationId xmlns:p14="http://schemas.microsoft.com/office/powerpoint/2010/main" val="1769511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50CE665-6BEF-4361-84A2-D8566F06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A2DFD-6138-4E73-B253-7E10FA17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Web architecture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E5FDC0-EBDA-46E5-91CA-885F61E1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Spring MVC handles browser requests through the servlet web stack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23B54E2-9390-42E2-8126-B4715205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2B25DDC-5D89-444A-A427-61B84DF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103A33-E748-4667-8F86-F428C6C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C6F3FD27-61A1-4CCD-8B28-BB10D0A7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arch-detail-0">
            <a:extLst xmlns:a="http://schemas.openxmlformats.org/drawingml/2006/main">
              <a:ext uri="{FF2B5EF4-FFF2-40B4-BE49-F238E27FC236}">
                <a16:creationId xmlns:a16="http://schemas.microsoft.com/office/drawing/2014/main" id="{C48E023E-1EE6-4E10-92F4-48564085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Patient / professional / admin</a:t>
            </a:r>
          </a:p>
        </p:txBody>
      </p:sp>
      <p:sp>
        <p:nvSpPr>
          <p:cNvPr id="9" name="arch-connector-0">
            <a:extLst xmlns:a="http://schemas.openxmlformats.org/drawingml/2006/main">
              <a:ext uri="{FF2B5EF4-FFF2-40B4-BE49-F238E27FC236}">
                <a16:creationId xmlns:a16="http://schemas.microsoft.com/office/drawing/2014/main" id="{3C49B346-0A6F-412D-A0D9-F0A8C7F6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146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F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991FC45D-8D1C-4CC7-930C-84BD823B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52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SPRING MVC</a:t>
            </a:r>
          </a:p>
        </p:txBody>
      </p:sp>
      <p:sp>
        <p:nvSpPr>
          <p:cNvPr id="11" name="arch-detail-1">
            <a:extLst xmlns:a="http://schemas.openxmlformats.org/drawingml/2006/main">
              <a:ext uri="{FF2B5EF4-FFF2-40B4-BE49-F238E27FC236}">
                <a16:creationId xmlns:a16="http://schemas.microsoft.com/office/drawing/2014/main" id="{0F95254C-1D9F-47CD-A2BF-783D189E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00375"/>
            <a:ext cx="266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DispatcherServlet + WebController</a:t>
            </a:r>
          </a:p>
        </p:txBody>
      </p:sp>
      <p:sp>
        <p:nvSpPr>
          <p:cNvPr id="12" name="arch-connector-1">
            <a:extLst xmlns:a="http://schemas.openxmlformats.org/drawingml/2006/main">
              <a:ext uri="{FF2B5EF4-FFF2-40B4-BE49-F238E27FC236}">
                <a16:creationId xmlns:a16="http://schemas.microsoft.com/office/drawing/2014/main" id="{63A41123-CB61-49D1-AEC0-9CCC5874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146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F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000E3BF5-CCE3-4FAF-A25F-2D2FFAE9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4" name="arch-detail-2">
            <a:extLst xmlns:a="http://schemas.openxmlformats.org/drawingml/2006/main">
              <a:ext uri="{FF2B5EF4-FFF2-40B4-BE49-F238E27FC236}">
                <a16:creationId xmlns:a16="http://schemas.microsoft.com/office/drawing/2014/main" id="{CFD06CF2-2B63-431F-A732-E9A81242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MediConnectService</a:t>
            </a:r>
          </a:p>
        </p:txBody>
      </p:sp>
      <p:sp>
        <p:nvSpPr>
          <p:cNvPr id="15" name="arch-connector-2">
            <a:extLst xmlns:a="http://schemas.openxmlformats.org/drawingml/2006/main">
              <a:ext uri="{FF2B5EF4-FFF2-40B4-BE49-F238E27FC236}">
                <a16:creationId xmlns:a16="http://schemas.microsoft.com/office/drawing/2014/main" id="{1391099F-8EE2-48D3-91F3-AC533B0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146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F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BF0B8BB8-63F8-48DF-BB40-8245BC4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7" name="arch-detail-3">
            <a:extLst xmlns:a="http://schemas.openxmlformats.org/drawingml/2006/main">
              <a:ext uri="{FF2B5EF4-FFF2-40B4-BE49-F238E27FC236}">
                <a16:creationId xmlns:a16="http://schemas.microsoft.com/office/drawing/2014/main" id="{76C00663-ADDA-4C57-B71C-194B0B43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0375"/>
            <a:ext cx="1428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Demo or MySQL</a:t>
            </a:r>
          </a:p>
        </p:txBody>
      </p:sp>
      <p:sp>
        <p:nvSpPr>
          <p:cNvPr id="18" name="service-divider">
            <a:extLst xmlns:a="http://schemas.openxmlformats.org/drawingml/2006/main">
              <a:ext uri="{FF2B5EF4-FFF2-40B4-BE49-F238E27FC236}">
                <a16:creationId xmlns:a16="http://schemas.microsoft.com/office/drawing/2014/main" id="{65EFB324-8509-4276-9610-E71C3045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33875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mo-service">
            <a:extLst xmlns:a="http://schemas.openxmlformats.org/drawingml/2006/main">
              <a:ext uri="{FF2B5EF4-FFF2-40B4-BE49-F238E27FC236}">
                <a16:creationId xmlns:a16="http://schemas.microsoft.com/office/drawing/2014/main" id="{EB354845-69AE-488E-B53F-AE34675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72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4F0D2"/>
                </a:solidFill>
                <a:latin typeface="Arial"/>
                <a:ea typeface="Arial"/>
                <a:cs typeface="Arial"/>
              </a:rPr>
              <a:t>PlatformService</a:t>
            </a:r>
          </a:p>
        </p:txBody>
      </p:sp>
      <p:sp>
        <p:nvSpPr>
          <p:cNvPr id="20" name="demo-storage">
            <a:extLst xmlns:a="http://schemas.openxmlformats.org/drawingml/2006/main">
              <a:ext uri="{FF2B5EF4-FFF2-40B4-BE49-F238E27FC236}">
                <a16:creationId xmlns:a16="http://schemas.microsoft.com/office/drawing/2014/main" id="{8589DD6A-3068-4324-863F-0962F95D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53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In-memory demo data</a:t>
            </a:r>
          </a:p>
        </p:txBody>
      </p:sp>
      <p:sp>
        <p:nvSpPr>
          <p:cNvPr id="21" name="jdbc-service">
            <a:extLst xmlns:a="http://schemas.openxmlformats.org/drawingml/2006/main">
              <a:ext uri="{FF2B5EF4-FFF2-40B4-BE49-F238E27FC236}">
                <a16:creationId xmlns:a16="http://schemas.microsoft.com/office/drawing/2014/main" id="{DF7F94B4-7440-4E84-BF7F-B13276BB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4F0D2"/>
                </a:solidFill>
                <a:latin typeface="Arial"/>
                <a:ea typeface="Arial"/>
                <a:cs typeface="Arial"/>
              </a:rPr>
              <a:t>JdbcPlatformService</a:t>
            </a:r>
          </a:p>
        </p:txBody>
      </p:sp>
      <p:sp>
        <p:nvSpPr>
          <p:cNvPr id="22" name="jdbc-storage">
            <a:extLst xmlns:a="http://schemas.openxmlformats.org/drawingml/2006/main">
              <a:ext uri="{FF2B5EF4-FFF2-40B4-BE49-F238E27FC236}">
                <a16:creationId xmlns:a16="http://schemas.microsoft.com/office/drawing/2014/main" id="{904D304C-1228-4824-8380-EE27318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MySQL via JDBC</a:t>
            </a:r>
          </a:p>
        </p:txBody>
      </p:sp>
    </p:spTree>
    <p:extLst>
      <p:ext uri="{BB962C8B-B14F-4D97-AF65-F5344CB8AC3E}">
        <p14:creationId xmlns:p14="http://schemas.microsoft.com/office/powerpoint/2010/main" val="1450315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27B8564-BBE8-4238-9633-A9A87B97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11885D-10BC-434B-8317-39E315A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Core workflows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0C12FB-D1A5-42CD-9637-A31409E2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The app connects patient actions with professional follow-up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8E5A63-69D1-47AF-9402-B891E442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13CE91A-AB33-4B5A-A69C-2D0FC4C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F44205-3AC0-4D20-B196-ECEFA164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patient-label">
            <a:extLst xmlns:a="http://schemas.openxmlformats.org/drawingml/2006/main">
              <a:ext uri="{FF2B5EF4-FFF2-40B4-BE49-F238E27FC236}">
                <a16:creationId xmlns:a16="http://schemas.microsoft.com/office/drawing/2014/main" id="{35146E52-0A2C-42C0-9807-3167F0B6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PATIENT</a:t>
            </a:r>
          </a:p>
        </p:txBody>
      </p:sp>
      <p:sp>
        <p:nvSpPr>
          <p:cNvPr id="8" name="patient-flow">
            <a:extLst xmlns:a="http://schemas.openxmlformats.org/drawingml/2006/main">
              <a:ext uri="{FF2B5EF4-FFF2-40B4-BE49-F238E27FC236}">
                <a16:creationId xmlns:a16="http://schemas.microsoft.com/office/drawing/2014/main" id="{C000DDCD-994F-4121-8E15-AB1839D9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4333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Register or sign in</a:t>
            </a:r>
          </a:p>
          <a:p xmlns:a="http://schemas.openxmlformats.org/drawingml/2006/main">
            <a: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Choose a professional and time</a:t>
            </a:r>
          </a:p>
          <a:p xmlns:a="http://schemas.openxmlformats.org/drawingml/2006/main">
            <a: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Manage booking and health record</a:t>
            </a:r>
          </a:p>
          <a:p xmlns:a="http://schemas.openxmlformats.org/drawingml/2006/main">
            <a: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Message the assigned professional</a:t>
            </a:r>
          </a:p>
        </p:txBody>
      </p:sp>
      <p:sp>
        <p:nvSpPr>
          <p:cNvPr id="9" name="workflow-divider">
            <a:extLst xmlns:a="http://schemas.openxmlformats.org/drawingml/2006/main">
              <a:ext uri="{FF2B5EF4-FFF2-40B4-BE49-F238E27FC236}">
                <a16:creationId xmlns:a16="http://schemas.microsoft.com/office/drawing/2014/main" id="{4A75E193-77B4-4E22-99C4-02FEC90F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907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fessional-label">
            <a:extLst xmlns:a="http://schemas.openxmlformats.org/drawingml/2006/main">
              <a:ext uri="{FF2B5EF4-FFF2-40B4-BE49-F238E27FC236}">
                <a16:creationId xmlns:a16="http://schemas.microsoft.com/office/drawing/2014/main" id="{2BAB2597-EA60-43A1-A705-5AEF2D3D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PROFESSIONAL</a:t>
            </a:r>
          </a:p>
        </p:txBody>
      </p:sp>
      <p:sp>
        <p:nvSpPr>
          <p:cNvPr id="11" name="professional-flow">
            <a:extLst xmlns:a="http://schemas.openxmlformats.org/drawingml/2006/main">
              <a:ext uri="{FF2B5EF4-FFF2-40B4-BE49-F238E27FC236}">
                <a16:creationId xmlns:a16="http://schemas.microsoft.com/office/drawing/2014/main" id="{44F31F47-27C1-4B19-AD63-7CD09BB0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Set weekly availability</a:t>
            </a:r>
          </a:p>
          <a:p xmlns:a="http://schemas.openxmlformats.org/drawingml/2006/main">
            <a: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Review assigned appointments</a:t>
            </a:r>
          </a:p>
          <a:p xmlns:a="http://schemas.openxmlformats.org/drawingml/2006/main">
            <a: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View records allowed for the visit</a:t>
            </a:r>
          </a:p>
          <a:p xmlns:a="http://schemas.openxmlformats.org/drawingml/2006/main">
            <a:pPr>
              <a:defRPr sz="19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Save consultation notes and advice</a:t>
            </a:r>
          </a:p>
        </p:txBody>
      </p:sp>
      <p:sp>
        <p:nvSpPr>
          <p:cNvPr id="12" name="admin-summary">
            <a:extLst xmlns:a="http://schemas.openxmlformats.org/drawingml/2006/main">
              <a:ext uri="{FF2B5EF4-FFF2-40B4-BE49-F238E27FC236}">
                <a16:creationId xmlns:a16="http://schemas.microsoft.com/office/drawing/2014/main" id="{39144886-F683-417A-8E31-9F024C51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4F0D2"/>
                </a:solidFill>
                <a:latin typeface="Arial"/>
                <a:ea typeface="Arial"/>
                <a:cs typeface="Arial"/>
              </a:rPr>
              <a:t>Admin tools cover accounts, appointment status, analytics, and system settings.</a:t>
            </a:r>
          </a:p>
        </p:txBody>
      </p:sp>
    </p:spTree>
    <p:extLst>
      <p:ext uri="{BB962C8B-B14F-4D97-AF65-F5344CB8AC3E}">
        <p14:creationId xmlns:p14="http://schemas.microsoft.com/office/powerpoint/2010/main" val="2011309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741F2F3-A3F0-46D9-9457-60DF89B6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A203B1-891D-45C3-A059-7DF8319C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MySQL data model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55D33D-BF95-4A96-A876-E75F1266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Eight tables support identity, visits, care notes, and communication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6374F3E-BBDE-4D86-ADF9-2AB14F1E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F9CA76F-AB52-4202-A66B-C098E0DD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A2CC03-5C0D-4EFD-BC26-10563F81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db-users">
            <a:extLst xmlns:a="http://schemas.openxmlformats.org/drawingml/2006/main">
              <a:ext uri="{FF2B5EF4-FFF2-40B4-BE49-F238E27FC236}">
                <a16:creationId xmlns:a16="http://schemas.microsoft.com/office/drawing/2014/main" id="{FEE2C30C-F0FA-4286-9CF4-009E350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8" name="db-user-ext">
            <a:extLst xmlns:a="http://schemas.openxmlformats.org/drawingml/2006/main">
              <a:ext uri="{FF2B5EF4-FFF2-40B4-BE49-F238E27FC236}">
                <a16:creationId xmlns:a16="http://schemas.microsoft.com/office/drawing/2014/main" id="{3AC751A0-2FB1-423F-93CB-E6F77469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Professional profiles</a:t>
            </a:r>
          </a:p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Health records</a:t>
            </a:r>
          </a:p>
        </p:txBody>
      </p:sp>
      <p:sp>
        <p:nvSpPr>
          <p:cNvPr id="9" name="db-appointments">
            <a:extLst xmlns:a="http://schemas.openxmlformats.org/drawingml/2006/main">
              <a:ext uri="{FF2B5EF4-FFF2-40B4-BE49-F238E27FC236}">
                <a16:creationId xmlns:a16="http://schemas.microsoft.com/office/drawing/2014/main" id="{B540A0BB-6CF8-466B-89B3-15EC4B6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APPOINTMENTS</a:t>
            </a:r>
          </a:p>
        </p:txBody>
      </p:sp>
      <p:sp>
        <p:nvSpPr>
          <p:cNvPr id="10" name="db-appointment-fields">
            <a:extLst xmlns:a="http://schemas.openxmlformats.org/drawingml/2006/main">
              <a:ext uri="{FF2B5EF4-FFF2-40B4-BE49-F238E27FC236}">
                <a16:creationId xmlns:a16="http://schemas.microsoft.com/office/drawing/2014/main" id="{353D03CD-06B6-4C55-8198-72193872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Patient + professional</a:t>
            </a:r>
          </a:p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Date, time, status</a:t>
            </a:r>
          </a:p>
        </p:txBody>
      </p:sp>
      <p:sp>
        <p:nvSpPr>
          <p:cNvPr id="11" name="db-consult">
            <a:extLst xmlns:a="http://schemas.openxmlformats.org/drawingml/2006/main">
              <a:ext uri="{FF2B5EF4-FFF2-40B4-BE49-F238E27FC236}">
                <a16:creationId xmlns:a16="http://schemas.microsoft.com/office/drawing/2014/main" id="{8D42CD1C-AAD2-49C6-9E7D-A61BBDB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CONSULTATIONS</a:t>
            </a:r>
          </a:p>
        </p:txBody>
      </p:sp>
      <p:sp>
        <p:nvSpPr>
          <p:cNvPr id="12" name="db-consult-fields">
            <a:extLst xmlns:a="http://schemas.openxmlformats.org/drawingml/2006/main">
              <a:ext uri="{FF2B5EF4-FFF2-40B4-BE49-F238E27FC236}">
                <a16:creationId xmlns:a16="http://schemas.microsoft.com/office/drawing/2014/main" id="{A9B19F6C-3841-4960-8FBD-B8C37EE6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051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Notes and advice linked</a:t>
            </a:r>
          </a:p>
          <a:p xmlns:a="http://schemas.openxmlformats.org/drawingml/2006/main">
            <a:pPr>
              <a:defRPr sz="165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to an appointment</a:t>
            </a:r>
          </a:p>
        </p:txBody>
      </p:sp>
      <p:sp>
        <p:nvSpPr>
          <p:cNvPr id="13" name="db-connector-1">
            <a:extLst xmlns:a="http://schemas.openxmlformats.org/drawingml/2006/main">
              <a:ext uri="{FF2B5EF4-FFF2-40B4-BE49-F238E27FC236}">
                <a16:creationId xmlns:a16="http://schemas.microsoft.com/office/drawing/2014/main" id="{6DD5207C-745B-4B1E-AF71-B6AE5221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622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F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b-connector-2">
            <a:extLst xmlns:a="http://schemas.openxmlformats.org/drawingml/2006/main">
              <a:ext uri="{FF2B5EF4-FFF2-40B4-BE49-F238E27FC236}">
                <a16:creationId xmlns:a16="http://schemas.microsoft.com/office/drawing/2014/main" id="{87C804D0-0E92-4EF9-9737-56B71E94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F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b-lower-divider">
            <a:extLst xmlns:a="http://schemas.openxmlformats.org/drawingml/2006/main">
              <a:ext uri="{FF2B5EF4-FFF2-40B4-BE49-F238E27FC236}">
                <a16:creationId xmlns:a16="http://schemas.microsoft.com/office/drawing/2014/main" id="{C10F6332-7EDA-42D9-8892-CFD68428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b-messages">
            <a:extLst xmlns:a="http://schemas.openxmlformats.org/drawingml/2006/main">
              <a:ext uri="{FF2B5EF4-FFF2-40B4-BE49-F238E27FC236}">
                <a16:creationId xmlns:a16="http://schemas.microsoft.com/office/drawing/2014/main" id="{250A9DCE-35BF-4C70-A2C6-D80B54E3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F0D2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17" name="db-messages-detail">
            <a:extLst xmlns:a="http://schemas.openxmlformats.org/drawingml/2006/main">
              <a:ext uri="{FF2B5EF4-FFF2-40B4-BE49-F238E27FC236}">
                <a16:creationId xmlns:a16="http://schemas.microsoft.com/office/drawing/2014/main" id="{21950C05-EBBA-4B56-B3A0-FDBAE6E2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Sender, recipient, message, read time</a:t>
            </a:r>
          </a:p>
        </p:txBody>
      </p:sp>
      <p:sp>
        <p:nvSpPr>
          <p:cNvPr id="18" name="db-availability">
            <a:extLst xmlns:a="http://schemas.openxmlformats.org/drawingml/2006/main">
              <a:ext uri="{FF2B5EF4-FFF2-40B4-BE49-F238E27FC236}">
                <a16:creationId xmlns:a16="http://schemas.microsoft.com/office/drawing/2014/main" id="{48EBCAC8-BBE1-4739-9CCE-C2E8386C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F0D2"/>
                </a:solidFill>
                <a:latin typeface="Arial"/>
                <a:ea typeface="Arial"/>
                <a:cs typeface="Arial"/>
              </a:rPr>
              <a:t>PROFESSIONAL_AVAILABILITY</a:t>
            </a:r>
          </a:p>
        </p:txBody>
      </p:sp>
      <p:sp>
        <p:nvSpPr>
          <p:cNvPr id="19" name="db-availability-detail">
            <a:extLst xmlns:a="http://schemas.openxmlformats.org/drawingml/2006/main">
              <a:ext uri="{FF2B5EF4-FFF2-40B4-BE49-F238E27FC236}">
                <a16:creationId xmlns:a16="http://schemas.microsoft.com/office/drawing/2014/main" id="{21C81269-930F-40A2-9655-AC3AD1DA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577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Professional and weekday time windows</a:t>
            </a:r>
          </a:p>
        </p:txBody>
      </p:sp>
      <p:sp>
        <p:nvSpPr>
          <p:cNvPr id="20" name="db-settings">
            <a:extLst xmlns:a="http://schemas.openxmlformats.org/drawingml/2006/main">
              <a:ext uri="{FF2B5EF4-FFF2-40B4-BE49-F238E27FC236}">
                <a16:creationId xmlns:a16="http://schemas.microsoft.com/office/drawing/2014/main" id="{0B4EADA1-EF0E-4C5E-A23A-07924EEA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76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F0D2"/>
                </a:solidFill>
                <a:latin typeface="Arial"/>
                <a:ea typeface="Arial"/>
                <a:cs typeface="Arial"/>
              </a:rPr>
              <a:t>APP_SETTINGS</a:t>
            </a:r>
          </a:p>
        </p:txBody>
      </p:sp>
      <p:sp>
        <p:nvSpPr>
          <p:cNvPr id="21" name="db-settings-detail">
            <a:extLst xmlns:a="http://schemas.openxmlformats.org/drawingml/2006/main">
              <a:ext uri="{FF2B5EF4-FFF2-40B4-BE49-F238E27FC236}">
                <a16:creationId xmlns:a16="http://schemas.microsoft.com/office/drawing/2014/main" id="{AEF97ED2-1A81-457A-A9CE-F1702ABD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577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Key/value preferences</a:t>
            </a:r>
          </a:p>
        </p:txBody>
      </p:sp>
    </p:spTree>
    <p:extLst>
      <p:ext uri="{BB962C8B-B14F-4D97-AF65-F5344CB8AC3E}">
        <p14:creationId xmlns:p14="http://schemas.microsoft.com/office/powerpoint/2010/main" val="1748531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841469F-D8E1-4419-B809-214D620D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C48E50-323A-41A8-9B9B-B48B3C3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Core Java concepts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25F28D-3C7F-4024-91ED-514BBBAA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How the project maps to the web-project rubric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ED727E-C61B-4AF9-B82E-0CC003A1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114858A-381C-4986-BFFF-0E97AE8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D3F315-FB9F-439F-BD56-BB755E7E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5DE09930-C46A-485F-A600-F6234F5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2340788-3507-44F8-9BE2-88D95C60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992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Inheritance: User extends Person to share identity and contact fields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8C84EAF3-FF75-474F-851C-71B4780B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5CFCB41-C979-464D-B90F-16A65838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92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Interfaces and polymorphism: MediConnectService has in-memory and JDBC implementations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CF5C43AF-46C8-4287-BD6E-B4FF22BC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9B51B72C-B6BA-47EF-8662-541E931F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992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Collections and generics: typed Map, List, and Set structures hold application data; enums model roles and appointment states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BA08E002-8CF1-43CC-9271-1994012C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F0E1FE39-0190-45FD-82AC-AC567B23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992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Concurrency: ReentrantReadWriteLock protects demo data; MySQL booking uses transactions and row locks</a:t>
            </a:r>
          </a:p>
        </p:txBody>
      </p:sp>
      <p:sp>
        <p:nvSpPr>
          <p:cNvPr id="15" name="bullet-5">
            <a:extLst xmlns:a="http://schemas.openxmlformats.org/drawingml/2006/main">
              <a:ext uri="{FF2B5EF4-FFF2-40B4-BE49-F238E27FC236}">
                <a16:creationId xmlns:a16="http://schemas.microsoft.com/office/drawing/2014/main" id="{829FBF7D-F862-41A0-B81B-8A1C89F6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362BCA40-4F13-4834-9C8D-62482442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992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Exception handling: services report validation and access errors; controllers return user-facing messages</a:t>
            </a:r>
          </a:p>
        </p:txBody>
      </p:sp>
      <p:sp>
        <p:nvSpPr>
          <p:cNvPr id="17" name="bullet-6">
            <a:extLst xmlns:a="http://schemas.openxmlformats.org/drawingml/2006/main">
              <a:ext uri="{FF2B5EF4-FFF2-40B4-BE49-F238E27FC236}">
                <a16:creationId xmlns:a16="http://schemas.microsoft.com/office/drawing/2014/main" id="{1E050257-14A1-47CF-8BE7-0D5E07F4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text-6">
            <a:extLst xmlns:a="http://schemas.openxmlformats.org/drawingml/2006/main">
              <a:ext uri="{FF2B5EF4-FFF2-40B4-BE49-F238E27FC236}">
                <a16:creationId xmlns:a16="http://schemas.microsoft.com/office/drawing/2014/main" id="{2B455CA1-7CED-4B4F-835F-33EFE881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86400"/>
            <a:ext cx="992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Enums and model classes represent roles, appointment status, and domain data</a:t>
            </a:r>
          </a:p>
        </p:txBody>
      </p:sp>
    </p:spTree>
    <p:extLst>
      <p:ext uri="{BB962C8B-B14F-4D97-AF65-F5344CB8AC3E}">
        <p14:creationId xmlns:p14="http://schemas.microsoft.com/office/powerpoint/2010/main" val="1150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8CD621A-992C-418E-AB87-1C128BB8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963611-C4E5-4B55-8F1D-18A2760C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Security and data handling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63A591-3210-4BA5-B7FB-5C8E4146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Access checks protect sessions, forms, accounts, and records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165E1A2-2C86-4F10-BF8F-FCC15EC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2247BF7-1ADC-4805-B765-05E2934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1A4F7D-F277-44EA-B98D-11267DA6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2AFB5F2A-FFCC-4B4F-AB03-47D59A15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F06819F-D1F5-4F6E-8AD2-09BB8C15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9925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BCrypt password hashes and role-aware session checks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B351FA73-472B-40B8-8E29-A3EFE2EA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5E93BB07-DF13-4BBA-B672-22077DE8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67025"/>
            <a:ext cx="9925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CSRF tokens on form submissions and validated inputs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A96F48BB-04B7-457C-8396-9E08B690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D1AC8B5B-5E49-4A53-B6F3-9286BE17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9925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Prepared JDBC statements for MySQL persistence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C8BCEE15-6ABA-4581-9BFC-F499A17F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56FBD2C4-157B-4680-92AB-33F2EC66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95775"/>
            <a:ext cx="9925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Patient records are limited to the owner and assigned professional</a:t>
            </a:r>
          </a:p>
        </p:txBody>
      </p:sp>
      <p:sp>
        <p:nvSpPr>
          <p:cNvPr id="15" name="bullet-5">
            <a:extLst xmlns:a="http://schemas.openxmlformats.org/drawingml/2006/main">
              <a:ext uri="{FF2B5EF4-FFF2-40B4-BE49-F238E27FC236}">
                <a16:creationId xmlns:a16="http://schemas.microsoft.com/office/drawing/2014/main" id="{8A34C588-E517-464A-8995-0F4665F5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2FDB3A50-943F-4868-84DD-D1494E22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99250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Use fictional data only; this project does not provide medical care</a:t>
            </a:r>
          </a:p>
        </p:txBody>
      </p:sp>
    </p:spTree>
    <p:extLst>
      <p:ext uri="{BB962C8B-B14F-4D97-AF65-F5344CB8AC3E}">
        <p14:creationId xmlns:p14="http://schemas.microsoft.com/office/powerpoint/2010/main" val="1621984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A24CE95-50FE-41B0-8755-CC089954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03F77C-7396-41F6-A482-4928C92B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Build and test status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45B3D5-3D11-43C4-A6A3-FC271D93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Local automated checks cover core service and page rendering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98B4D3-B416-460C-9746-65F652D7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AC18E98-AB21-4968-929F-0D33D86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80CCEC-18D7-45C1-8E15-D792AFF0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test-count">
            <a:extLst xmlns:a="http://schemas.openxmlformats.org/drawingml/2006/main">
              <a:ext uri="{FF2B5EF4-FFF2-40B4-BE49-F238E27FC236}">
                <a16:creationId xmlns:a16="http://schemas.microsoft.com/office/drawing/2014/main" id="{188E0786-1ECC-4DD5-9FA4-37F9D6B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72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test-label">
            <a:extLst xmlns:a="http://schemas.openxmlformats.org/drawingml/2006/main">
              <a:ext uri="{FF2B5EF4-FFF2-40B4-BE49-F238E27FC236}">
                <a16:creationId xmlns:a16="http://schemas.microsoft.com/office/drawing/2014/main" id="{2C62A57C-6113-4919-908F-85C0905D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JUnit tests passed</a:t>
            </a:r>
          </a:p>
        </p:txBody>
      </p:sp>
      <p:sp>
        <p:nvSpPr>
          <p:cNvPr id="9" name="status-divider">
            <a:extLst xmlns:a="http://schemas.openxmlformats.org/drawingml/2006/main">
              <a:ext uri="{FF2B5EF4-FFF2-40B4-BE49-F238E27FC236}">
                <a16:creationId xmlns:a16="http://schemas.microsoft.com/office/drawing/2014/main" id="{B4F12862-89DB-4791-9972-B5E8ECBA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rvice-test-count">
            <a:extLst xmlns:a="http://schemas.openxmlformats.org/drawingml/2006/main">
              <a:ext uri="{FF2B5EF4-FFF2-40B4-BE49-F238E27FC236}">
                <a16:creationId xmlns:a16="http://schemas.microsoft.com/office/drawing/2014/main" id="{9B3B7410-8818-49C2-9FAF-D18F82B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24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8 service tests</a:t>
            </a:r>
          </a:p>
        </p:txBody>
      </p:sp>
      <p:sp>
        <p:nvSpPr>
          <p:cNvPr id="11" name="render-test-count">
            <a:extLst xmlns:a="http://schemas.openxmlformats.org/drawingml/2006/main">
              <a:ext uri="{FF2B5EF4-FFF2-40B4-BE49-F238E27FC236}">
                <a16:creationId xmlns:a16="http://schemas.microsoft.com/office/drawing/2014/main" id="{88FA81C5-9D38-4CFA-951F-79897D97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241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2 template-render tests</a:t>
            </a:r>
          </a:p>
        </p:txBody>
      </p:sp>
      <p:sp>
        <p:nvSpPr>
          <p:cNvPr id="12" name="build-status">
            <a:extLst xmlns:a="http://schemas.openxmlformats.org/drawingml/2006/main">
              <a:ext uri="{FF2B5EF4-FFF2-40B4-BE49-F238E27FC236}">
                <a16:creationId xmlns:a16="http://schemas.microsoft.com/office/drawing/2014/main" id="{B2C892AB-4E09-4285-B7AF-6AE5B6A9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719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A4F0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4F0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4F0D2"/>
                </a:solidFill>
                <a:latin typeface="Arial"/>
                <a:ea typeface="Arial"/>
                <a:cs typeface="Arial"/>
              </a:rPr>
              <a:t>Maven test and package build completed successfully.</a:t>
            </a:r>
          </a:p>
        </p:txBody>
      </p:sp>
      <p:sp>
        <p:nvSpPr>
          <p:cNvPr id="13" name="verification-limit">
            <a:extLst xmlns:a="http://schemas.openxmlformats.org/drawingml/2006/main">
              <a:ext uri="{FF2B5EF4-FFF2-40B4-BE49-F238E27FC236}">
                <a16:creationId xmlns:a16="http://schemas.microsoft.com/office/drawing/2014/main" id="{ECBBE5D9-F48F-4AEB-8FA5-826AC319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Live MySQL and browser-server smoke checks are still unverified in this host environment.</a:t>
            </a:r>
          </a:p>
        </p:txBody>
      </p:sp>
    </p:spTree>
    <p:extLst>
      <p:ext uri="{BB962C8B-B14F-4D97-AF65-F5344CB8AC3E}">
        <p14:creationId xmlns:p14="http://schemas.microsoft.com/office/powerpoint/2010/main" val="1094306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165551A-295D-4284-833E-E154A638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20F0E9-E702-4210-9902-4D6D1C85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5"/>
                </a:solidFill>
                <a:latin typeface="Arial"/>
                <a:ea typeface="Arial"/>
                <a:cs typeface="Arial"/>
              </a:rPr>
              <a:t>Run the project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5AC0E9-97F3-4928-94AE-3C2D5323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A local setup can run the packaged Java website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75CA15-8172-48B9-9BC4-5CD180C3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DE8AC4C-5679-4936-9341-8FAB359A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MEDICONNECT  /  JAVA WEB APPLICATION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E3C3C6-7097-498D-A95A-CB05ECD7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C6C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un-step-one">
            <a:extLst xmlns:a="http://schemas.openxmlformats.org/drawingml/2006/main">
              <a:ext uri="{FF2B5EF4-FFF2-40B4-BE49-F238E27FC236}">
                <a16:creationId xmlns:a16="http://schemas.microsoft.com/office/drawing/2014/main" id="{2C32CE4D-D2EF-4904-ABE6-B15DCD5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un-step-one-text">
            <a:extLst xmlns:a="http://schemas.openxmlformats.org/drawingml/2006/main">
              <a:ext uri="{FF2B5EF4-FFF2-40B4-BE49-F238E27FC236}">
                <a16:creationId xmlns:a16="http://schemas.microsoft.com/office/drawing/2014/main" id="{79DFD0F6-9BD4-4D4D-AE61-2933B86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Use JDK 17 or newer and Maven 3.6.3 or newer.</a:t>
            </a:r>
          </a:p>
        </p:txBody>
      </p:sp>
      <p:sp>
        <p:nvSpPr>
          <p:cNvPr id="9" name="run-step-two">
            <a:extLst xmlns:a="http://schemas.openxmlformats.org/drawingml/2006/main">
              <a:ext uri="{FF2B5EF4-FFF2-40B4-BE49-F238E27FC236}">
                <a16:creationId xmlns:a16="http://schemas.microsoft.com/office/drawing/2014/main" id="{FBDB6665-1224-4388-BD15-64B56913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un-step-two-text">
            <a:extLst xmlns:a="http://schemas.openxmlformats.org/drawingml/2006/main">
              <a:ext uri="{FF2B5EF4-FFF2-40B4-BE49-F238E27FC236}">
                <a16:creationId xmlns:a16="http://schemas.microsoft.com/office/drawing/2014/main" id="{2662A9BA-8CF6-44AF-880D-BC944ECB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From the project folder, run mvn spring-boot:run.</a:t>
            </a:r>
          </a:p>
        </p:txBody>
      </p:sp>
      <p:sp>
        <p:nvSpPr>
          <p:cNvPr id="11" name="run-step-three">
            <a:extLst xmlns:a="http://schemas.openxmlformats.org/drawingml/2006/main">
              <a:ext uri="{FF2B5EF4-FFF2-40B4-BE49-F238E27FC236}">
                <a16:creationId xmlns:a16="http://schemas.microsoft.com/office/drawing/2014/main" id="{48C0E491-A433-430B-B04D-DA4CBBE2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un-step-three-text">
            <a:extLst xmlns:a="http://schemas.openxmlformats.org/drawingml/2006/main">
              <a:ext uri="{FF2B5EF4-FFF2-40B4-BE49-F238E27FC236}">
                <a16:creationId xmlns:a16="http://schemas.microsoft.com/office/drawing/2014/main" id="{35D55D96-2F67-4FAB-A0DB-888194B3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F7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7F5"/>
                </a:solidFill>
                <a:latin typeface="Arial"/>
                <a:ea typeface="Arial"/>
                <a:cs typeface="Arial"/>
              </a:rPr>
              <a:t>Open http://localhost:8080 and sign in with a sample account.</a:t>
            </a:r>
          </a:p>
        </p:txBody>
      </p:sp>
      <p:sp>
        <p:nvSpPr>
          <p:cNvPr id="13" name="next-steps-divider">
            <a:extLst xmlns:a="http://schemas.openxmlformats.org/drawingml/2006/main">
              <a:ext uri="{FF2B5EF4-FFF2-40B4-BE49-F238E27FC236}">
                <a16:creationId xmlns:a16="http://schemas.microsoft.com/office/drawing/2014/main" id="{D2F8094D-1367-4D66-B807-07751CFD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ext-label">
            <a:extLst xmlns:a="http://schemas.openxmlformats.org/drawingml/2006/main">
              <a:ext uri="{FF2B5EF4-FFF2-40B4-BE49-F238E27FC236}">
                <a16:creationId xmlns:a16="http://schemas.microsoft.com/office/drawing/2014/main" id="{7E28624D-E88E-4ED1-9815-44DC1F5B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9D6A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A1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15" name="next-steps">
            <a:extLst xmlns:a="http://schemas.openxmlformats.org/drawingml/2006/main">
              <a:ext uri="{FF2B5EF4-FFF2-40B4-BE49-F238E27FC236}">
                <a16:creationId xmlns:a16="http://schemas.microsoft.com/office/drawing/2014/main" id="{4DA723CA-8A07-4056-8E4D-148FDE71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244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6C6C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6C2"/>
                </a:solidFill>
                <a:latin typeface="Arial"/>
                <a:ea typeface="Arial"/>
                <a:cs typeface="Arial"/>
              </a:rPr>
              <a:t>Verify MySQL against a configured server, run the site in a regular desktop Java environment, and capture real browser screenshots.</a:t>
            </a:r>
          </a:p>
        </p:txBody>
      </p:sp>
    </p:spTree>
    <p:extLst>
      <p:ext uri="{BB962C8B-B14F-4D97-AF65-F5344CB8AC3E}">
        <p14:creationId xmlns:p14="http://schemas.microsoft.com/office/powerpoint/2010/main" val="1020966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2026-10-09T17:56:04.0170000Z</dcterms:created>
  <dcterms:modified xsi:type="dcterms:W3CDTF">2026-10-09T17:56:04.0170000Z</dcterms:modified>
</coreProperties>
</file>